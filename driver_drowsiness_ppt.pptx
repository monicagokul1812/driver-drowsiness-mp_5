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68" r:id="rId14"/>
    <p:sldId id="267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dirty="0"/>
              <a:t>Driver Drowsiness Detection using Deep Learning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* </a:t>
            </a:r>
            <a:r>
              <a:rPr dirty="0"/>
              <a:t>AI-Based Driver Fatigue Monitoring System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dirty="0"/>
              <a:t>Using CNN and MobileNetV2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Driver fatigue is a major cause of road accidents worldwide.</a:t>
            </a:r>
          </a:p>
          <a:p>
            <a:r>
              <a:t>When drivers become sleepy, their reaction time decreases.</a:t>
            </a:r>
          </a:p>
          <a:p>
            <a:r>
              <a:t>AI and computer vision can detect fatigue automatically.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Many accidents occur due to sleepy drivers.</a:t>
            </a:r>
          </a:p>
          <a:p>
            <a:r>
              <a:t>Traditional monitoring systems are not always reliable.</a:t>
            </a:r>
          </a:p>
          <a:p>
            <a:r>
              <a:t>This project develops an automated deep learning system to detect drowsiness.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driver drowsiness using deep learning.</a:t>
            </a:r>
          </a:p>
          <a:p>
            <a:r>
              <a:t>Analyze eye closure and yawning patterns.</a:t>
            </a:r>
          </a:p>
          <a:p>
            <a:r>
              <a:t>Classify driver state using facial images.</a:t>
            </a:r>
          </a:p>
          <a:p>
            <a:r>
              <a:t>Improve driver safety using AI monitoring.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dataset contains driver facial images.</a:t>
            </a:r>
          </a:p>
          <a:p>
            <a:r>
              <a:t>Four classes are used for classification:</a:t>
            </a:r>
          </a:p>
          <a:p>
            <a:r>
              <a:t>• Open (Eyes open)</a:t>
            </a:r>
          </a:p>
          <a:p>
            <a:r>
              <a:t>• Closed (Eyes closed)</a:t>
            </a:r>
          </a:p>
          <a:p>
            <a:r>
              <a:t>• Yawn</a:t>
            </a:r>
          </a:p>
          <a:p>
            <a:r>
              <a:t>• No_yawn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Images resized to 224x224.</a:t>
            </a:r>
          </a:p>
          <a:p>
            <a:r>
              <a:t>Normalization applied.</a:t>
            </a:r>
          </a:p>
          <a:p>
            <a:r>
              <a:t>Data augmentation techniques used:</a:t>
            </a:r>
          </a:p>
          <a:p>
            <a:r>
              <a:t>Rotation, Zoom, Flipping, Brightness adjustments.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models used:</a:t>
            </a:r>
          </a:p>
          <a:p>
            <a:r>
              <a:t>1. CNN (Convolutional Neural Network)</a:t>
            </a:r>
          </a:p>
          <a:p>
            <a:r>
              <a:t>2. MobileNetV2 Transfer Learning</a:t>
            </a:r>
          </a:p>
          <a:p>
            <a:r>
              <a:t>MobileNetV2 improves accuracy and reduces training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Convolution Layers extract image features.</a:t>
            </a:r>
          </a:p>
          <a:p>
            <a:r>
              <a:t>Pooling layers reduce dimensionality.</a:t>
            </a:r>
          </a:p>
          <a:p>
            <a:r>
              <a:t>Fully connected layers perform classification.</a:t>
            </a:r>
          </a:p>
          <a:p>
            <a:r>
              <a:t>Dropout reduces overfitting.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Transfer Learning - MobileNetV2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MobileNetV2 is a pretrained deep learning model.</a:t>
            </a:r>
          </a:p>
          <a:p>
            <a:r>
              <a:t>It was trained on ImageNet dataset.</a:t>
            </a:r>
          </a:p>
          <a:p>
            <a:r>
              <a:t>We reuse learned features for driver fatigue detection.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Image → Preprocessing → CNN / MobileNetV2 Feature Extraction → Dense Layers → Driver State Prediction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34948" y="1600200"/>
            <a:ext cx="7294652" cy="4525963"/>
          </a:xfrm>
        </p:spPr>
        <p:txBody>
          <a:bodyPr/>
          <a:lstStyle/>
          <a:p>
            <a:r>
              <a:rPr dirty="0"/>
              <a:t>Optimizer: Adam</a:t>
            </a:r>
          </a:p>
          <a:p>
            <a:r>
              <a:rPr dirty="0"/>
              <a:t>Loss Function: Categorical </a:t>
            </a:r>
            <a:r>
              <a:rPr dirty="0" err="1"/>
              <a:t>Crossentropy</a:t>
            </a:r>
            <a:endParaRPr dirty="0"/>
          </a:p>
          <a:p>
            <a:r>
              <a:rPr dirty="0"/>
              <a:t>Batch Size: 32</a:t>
            </a:r>
          </a:p>
          <a:p>
            <a:r>
              <a:rPr dirty="0"/>
              <a:t>Image Size: 224x224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0EEA178-21B4-87CD-EBFC-4BB26C298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53" y="1190624"/>
            <a:ext cx="7900827" cy="5179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23B564-3A4C-C06D-4113-22BD7061F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60310"/>
          </a:xfrm>
        </p:spPr>
        <p:txBody>
          <a:bodyPr>
            <a:normAutofit fontScale="90000"/>
          </a:bodyPr>
          <a:lstStyle/>
          <a:p>
            <a:r>
              <a:rPr lang="en-US" dirty="0"/>
              <a:t>Confusion matrix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1376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  <a:r>
              <a:rPr dirty="0"/>
              <a:t>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Training and validation accuracy during model training.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DA398F-3BE0-60A2-99C8-C01267BDA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299" y="2496620"/>
            <a:ext cx="4458984" cy="31438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258A695-BC28-6CCF-F302-B35C0FDEB1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5902961"/>
              </p:ext>
            </p:extLst>
          </p:nvPr>
        </p:nvGraphicFramePr>
        <p:xfrm>
          <a:off x="457200" y="1551397"/>
          <a:ext cx="8584060" cy="4017192"/>
        </p:xfrm>
        <a:graphic>
          <a:graphicData uri="http://schemas.openxmlformats.org/drawingml/2006/table">
            <a:tbl>
              <a:tblPr/>
              <a:tblGrid>
                <a:gridCol w="1716812">
                  <a:extLst>
                    <a:ext uri="{9D8B030D-6E8A-4147-A177-3AD203B41FA5}">
                      <a16:colId xmlns:a16="http://schemas.microsoft.com/office/drawing/2014/main" val="950993277"/>
                    </a:ext>
                  </a:extLst>
                </a:gridCol>
                <a:gridCol w="1716812">
                  <a:extLst>
                    <a:ext uri="{9D8B030D-6E8A-4147-A177-3AD203B41FA5}">
                      <a16:colId xmlns:a16="http://schemas.microsoft.com/office/drawing/2014/main" val="4176333290"/>
                    </a:ext>
                  </a:extLst>
                </a:gridCol>
                <a:gridCol w="1716812">
                  <a:extLst>
                    <a:ext uri="{9D8B030D-6E8A-4147-A177-3AD203B41FA5}">
                      <a16:colId xmlns:a16="http://schemas.microsoft.com/office/drawing/2014/main" val="3995043290"/>
                    </a:ext>
                  </a:extLst>
                </a:gridCol>
                <a:gridCol w="1716812">
                  <a:extLst>
                    <a:ext uri="{9D8B030D-6E8A-4147-A177-3AD203B41FA5}">
                      <a16:colId xmlns:a16="http://schemas.microsoft.com/office/drawing/2014/main" val="2486721750"/>
                    </a:ext>
                  </a:extLst>
                </a:gridCol>
                <a:gridCol w="1716812">
                  <a:extLst>
                    <a:ext uri="{9D8B030D-6E8A-4147-A177-3AD203B41FA5}">
                      <a16:colId xmlns:a16="http://schemas.microsoft.com/office/drawing/2014/main" val="1873939596"/>
                    </a:ext>
                  </a:extLst>
                </a:gridCol>
              </a:tblGrid>
              <a:tr h="502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F1-Score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71236"/>
                  </a:ext>
                </a:extLst>
              </a:tr>
              <a:tr h="502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355126"/>
                  </a:ext>
                </a:extLst>
              </a:tr>
              <a:tr h="502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327149"/>
                  </a:ext>
                </a:extLst>
              </a:tr>
              <a:tr h="502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No_yawn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4606077"/>
                  </a:ext>
                </a:extLst>
              </a:tr>
              <a:tr h="502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Yawn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011717"/>
                  </a:ext>
                </a:extLst>
              </a:tr>
              <a:tr h="502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Accuracy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0.98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436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44053"/>
                  </a:ext>
                </a:extLst>
              </a:tr>
              <a:tr h="502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Macro Avg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797323"/>
                  </a:ext>
                </a:extLst>
              </a:tr>
              <a:tr h="502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Weighted Avg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35755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Streamlit dashboard was developed for visualization.</a:t>
            </a:r>
          </a:p>
          <a:p>
            <a:r>
              <a:t>It allows users to upload driver images.</a:t>
            </a:r>
          </a:p>
          <a:p>
            <a:r>
              <a:t>The model predicts driver state instantly.</a:t>
            </a:r>
          </a:p>
          <a:p>
            <a:r>
              <a:t>The dashboard also shows graphs and prediction results.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Key achievements:</a:t>
            </a:r>
          </a:p>
          <a:p>
            <a:r>
              <a:rPr lang="en-US" dirty="0"/>
              <a:t>Built CNN and MobileNetV2 models</a:t>
            </a:r>
          </a:p>
          <a:p>
            <a:r>
              <a:rPr lang="en-US" dirty="0"/>
              <a:t>Achieved high prediction accuracy</a:t>
            </a:r>
          </a:p>
          <a:p>
            <a:r>
              <a:rPr lang="en-US" dirty="0"/>
              <a:t>Implemented fatigue detection based on facial features</a:t>
            </a:r>
          </a:p>
          <a:p>
            <a:r>
              <a:rPr lang="en-US" dirty="0"/>
              <a:t>Can be integrated into real-time vehicle safety systems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401</Words>
  <Application>Microsoft Office PowerPoint</Application>
  <PresentationFormat>On-screen Show (4:3)</PresentationFormat>
  <Paragraphs>103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 Driver Drowsiness Detection using Deep Learning </vt:lpstr>
      <vt:lpstr>Introduction</vt:lpstr>
      <vt:lpstr>Problem Statement</vt:lpstr>
      <vt:lpstr>Project Objectives</vt:lpstr>
      <vt:lpstr>Dataset Description</vt:lpstr>
      <vt:lpstr>Data Preprocessing</vt:lpstr>
      <vt:lpstr>Deep Learning Model</vt:lpstr>
      <vt:lpstr>CNN Architecture</vt:lpstr>
      <vt:lpstr>Transfer Learning - MobileNetV2</vt:lpstr>
      <vt:lpstr>System Architecture</vt:lpstr>
      <vt:lpstr>Model Training</vt:lpstr>
      <vt:lpstr>Confusion matrix</vt:lpstr>
      <vt:lpstr>Model Graph</vt:lpstr>
      <vt:lpstr>Results</vt:lpstr>
      <vt:lpstr>Streamlit Dashboard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monica ashok</cp:lastModifiedBy>
  <cp:revision>3</cp:revision>
  <dcterms:created xsi:type="dcterms:W3CDTF">2013-01-27T09:14:16Z</dcterms:created>
  <dcterms:modified xsi:type="dcterms:W3CDTF">2026-03-15T14:08:16Z</dcterms:modified>
  <cp:category/>
</cp:coreProperties>
</file>